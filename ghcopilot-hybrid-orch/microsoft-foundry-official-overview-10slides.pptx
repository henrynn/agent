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成本构成示例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模型推理</c:v>
                </c:pt>
                <c:pt idx="1">
                  <c:v>工具服务</c:v>
                </c:pt>
                <c:pt idx="2">
                  <c:v>微调/托管</c:v>
                </c:pt>
                <c:pt idx="3">
                  <c:v>治理与观测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25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</c:ser>
      </c:pieChart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400">
                <a:solidFill>
                  <a:srgbClr val="FFFFFF"/>
                </a:solidFill>
              </a:defRPr>
            </a:pPr>
            <a:r>
              <a:t>Microsoft Foundry 官方文档解读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面向企业 AI 应用的统一平台（10 页）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2926080" cy="640080"/>
          </a:xfrm>
          <a:prstGeom prst="roundRect">
            <a:avLst/>
          </a:prstGeom>
          <a:solidFill>
            <a:srgbClr val="2A7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来源：Microsoft Learn 官方文档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DCE3F4"/>
                </a:solidFill>
              </a:defRPr>
            </a:pPr>
            <a:r>
              <a:t>https://learn.microsoft.com/azure/ai-foundry/what-is-azure-ai-foundry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400">
                <a:solidFill>
                  <a:srgbClr val="232B3F"/>
                </a:solidFill>
              </a:defRPr>
            </a:pPr>
            <a:r>
              <a:t>1) 什么是 Microsoft Foundry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06D85"/>
                </a:solidFill>
              </a:defRPr>
            </a:pPr>
            <a:r>
              <a:t>统一管理模型、智能体与工具的企业级 AI 平台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38404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平台定位</a:t>
            </a:r>
          </a:p>
          <a:p>
            <a:pPr>
              <a:defRPr sz="1200">
                <a:solidFill>
                  <a:srgbClr val="606D85"/>
                </a:solidFill>
              </a:defRPr>
            </a:pPr>
            <a:r>
              <a:t>PaaS 形态，聚焦应用开发与运维治理，减少基础设施管理复杂度。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1280160"/>
            <a:ext cx="3931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统一控制面</a:t>
            </a:r>
          </a:p>
          <a:p>
            <a:pPr>
              <a:defRPr sz="1200">
                <a:solidFill>
                  <a:srgbClr val="606D85"/>
                </a:solidFill>
              </a:defRPr>
            </a:pPr>
            <a:r>
              <a:t>将 RBAC、网络、策略与资产管理汇聚到单一资源模型。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834640"/>
            <a:ext cx="8046720" cy="1463040"/>
          </a:xfrm>
          <a:prstGeom prst="roundRect">
            <a:avLst/>
          </a:prstGeom>
          <a:solidFill>
            <a:srgbClr val="EBF3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核心价值</a:t>
            </a:r>
          </a:p>
          <a:p>
            <a:pPr>
              <a:defRPr sz="1200">
                <a:solidFill>
                  <a:srgbClr val="606D85"/>
                </a:solidFill>
              </a:defRPr>
            </a:pPr>
            <a:r>
              <a:t>以“项目端点 + API/SDK + 门户”统一体验支持构建、评估、监控与规模化落地。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06D85"/>
                </a:solidFill>
              </a:defRPr>
            </a:pPr>
            <a:r>
              <a:t>来源：What is Azure AI Foundry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400">
                <a:solidFill>
                  <a:srgbClr val="232B3F"/>
                </a:solidFill>
              </a:defRPr>
            </a:pPr>
            <a:r>
              <a:t>2) 平台演进：从分散到统一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06D85"/>
                </a:solidFill>
              </a:defRPr>
            </a:pPr>
            <a:r>
              <a:t>官方文档给出的关键迁移方向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1280160" cy="502920"/>
          </a:xfrm>
          <a:prstGeom prst="roundRect">
            <a:avLst/>
          </a:prstGeom>
          <a:solidFill>
            <a:srgbClr val="DCEA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维度</a:t>
            </a:r>
          </a:p>
          <a:p>
            <a:pPr>
              <a:defRPr sz="1200">
                <a:solidFill>
                  <a:srgbClr val="606D85"/>
                </a:solidFill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1920239" y="1371600"/>
            <a:ext cx="2926080" cy="502920"/>
          </a:xfrm>
          <a:prstGeom prst="roundRect">
            <a:avLst/>
          </a:prstGeom>
          <a:solidFill>
            <a:srgbClr val="DCEA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过去</a:t>
            </a:r>
          </a:p>
          <a:p>
            <a:pPr>
              <a:defRPr sz="1200">
                <a:solidFill>
                  <a:srgbClr val="606D85"/>
                </a:solidFill>
              </a:defRPr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4846320" y="1371600"/>
            <a:ext cx="3749039" cy="502920"/>
          </a:xfrm>
          <a:prstGeom prst="roundRect">
            <a:avLst/>
          </a:prstGeom>
          <a:solidFill>
            <a:srgbClr val="DCEA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现在</a:t>
            </a:r>
          </a:p>
          <a:p>
            <a:pPr>
              <a:defRPr sz="1200">
                <a:solidFill>
                  <a:srgbClr val="606D85"/>
                </a:solidFill>
              </a:defRPr>
            </a:pPr>
          </a:p>
        </p:txBody>
      </p:sp>
      <p:sp>
        <p:nvSpPr>
          <p:cNvPr id="7" name="Rounded Rectangle 6"/>
          <p:cNvSpPr/>
          <p:nvPr/>
        </p:nvSpPr>
        <p:spPr>
          <a:xfrm>
            <a:off x="640080" y="1938528"/>
            <a:ext cx="12801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品牌</a:t>
            </a:r>
          </a:p>
          <a:p>
            <a:pPr>
              <a:defRPr sz="1200">
                <a:solidFill>
                  <a:srgbClr val="606D85"/>
                </a:solidFill>
              </a:defRPr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1920239" y="1938528"/>
            <a:ext cx="29260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Azure AI Studio / Foundry</a:t>
            </a:r>
          </a:p>
          <a:p>
            <a:pPr>
              <a:defRPr sz="1200">
                <a:solidFill>
                  <a:srgbClr val="606D85"/>
                </a:solidFill>
              </a:defRPr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4846320" y="1938528"/>
            <a:ext cx="3749039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Microsoft Foundry</a:t>
            </a:r>
          </a:p>
          <a:p>
            <a:pPr>
              <a:defRPr sz="1200">
                <a:solidFill>
                  <a:srgbClr val="606D85"/>
                </a:solidFill>
              </a:defRPr>
            </a:pPr>
          </a:p>
        </p:txBody>
      </p:sp>
      <p:sp>
        <p:nvSpPr>
          <p:cNvPr id="10" name="Rounded Rectangle 9"/>
          <p:cNvSpPr/>
          <p:nvPr/>
        </p:nvSpPr>
        <p:spPr>
          <a:xfrm>
            <a:off x="640080" y="2715768"/>
            <a:ext cx="12801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资源模型</a:t>
            </a:r>
          </a:p>
          <a:p>
            <a:pPr>
              <a:defRPr sz="1200">
                <a:solidFill>
                  <a:srgbClr val="606D85"/>
                </a:solidFill>
              </a:defRPr>
            </a:pPr>
          </a:p>
        </p:txBody>
      </p:sp>
      <p:sp>
        <p:nvSpPr>
          <p:cNvPr id="11" name="Rounded Rectangle 10"/>
          <p:cNvSpPr/>
          <p:nvPr/>
        </p:nvSpPr>
        <p:spPr>
          <a:xfrm>
            <a:off x="1920239" y="2715768"/>
            <a:ext cx="29260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Hub + 多资源</a:t>
            </a:r>
          </a:p>
          <a:p>
            <a:pPr>
              <a:defRPr sz="1200">
                <a:solidFill>
                  <a:srgbClr val="606D85"/>
                </a:solidFill>
              </a:defRPr>
            </a:pPr>
          </a:p>
        </p:txBody>
      </p:sp>
      <p:sp>
        <p:nvSpPr>
          <p:cNvPr id="12" name="Rounded Rectangle 11"/>
          <p:cNvSpPr/>
          <p:nvPr/>
        </p:nvSpPr>
        <p:spPr>
          <a:xfrm>
            <a:off x="4846320" y="2715768"/>
            <a:ext cx="3749039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Foundry 资源 + 项目</a:t>
            </a:r>
          </a:p>
          <a:p>
            <a:pPr>
              <a:defRPr sz="1200">
                <a:solidFill>
                  <a:srgbClr val="606D85"/>
                </a:solidFill>
              </a:defRPr>
            </a:pPr>
          </a:p>
        </p:txBody>
      </p:sp>
      <p:sp>
        <p:nvSpPr>
          <p:cNvPr id="13" name="Rounded Rectangle 12"/>
          <p:cNvSpPr/>
          <p:nvPr/>
        </p:nvSpPr>
        <p:spPr>
          <a:xfrm>
            <a:off x="640080" y="3493008"/>
            <a:ext cx="12801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Agent API</a:t>
            </a:r>
          </a:p>
          <a:p>
            <a:pPr>
              <a:defRPr sz="1200">
                <a:solidFill>
                  <a:srgbClr val="606D85"/>
                </a:solidFill>
              </a:defRPr>
            </a:pPr>
          </a:p>
        </p:txBody>
      </p:sp>
      <p:sp>
        <p:nvSpPr>
          <p:cNvPr id="14" name="Rounded Rectangle 13"/>
          <p:cNvSpPr/>
          <p:nvPr/>
        </p:nvSpPr>
        <p:spPr>
          <a:xfrm>
            <a:off x="1920239" y="3493008"/>
            <a:ext cx="29260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Assistants API</a:t>
            </a:r>
          </a:p>
          <a:p>
            <a:pPr>
              <a:defRPr sz="1200">
                <a:solidFill>
                  <a:srgbClr val="606D85"/>
                </a:solidFill>
              </a:defRPr>
            </a:pPr>
          </a:p>
        </p:txBody>
      </p:sp>
      <p:sp>
        <p:nvSpPr>
          <p:cNvPr id="15" name="Rounded Rectangle 14"/>
          <p:cNvSpPr/>
          <p:nvPr/>
        </p:nvSpPr>
        <p:spPr>
          <a:xfrm>
            <a:off x="4846320" y="3493008"/>
            <a:ext cx="3749039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Responses API (v1)</a:t>
            </a:r>
          </a:p>
          <a:p>
            <a:pPr>
              <a:defRPr sz="1200">
                <a:solidFill>
                  <a:srgbClr val="606D85"/>
                </a:solidFill>
              </a:defRPr>
            </a:pPr>
          </a:p>
        </p:txBody>
      </p:sp>
      <p:sp>
        <p:nvSpPr>
          <p:cNvPr id="16" name="Rounded Rectangle 15"/>
          <p:cNvSpPr/>
          <p:nvPr/>
        </p:nvSpPr>
        <p:spPr>
          <a:xfrm>
            <a:off x="640080" y="4270248"/>
            <a:ext cx="12801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SDK与端点</a:t>
            </a:r>
          </a:p>
          <a:p>
            <a:pPr>
              <a:defRPr sz="1200">
                <a:solidFill>
                  <a:srgbClr val="606D85"/>
                </a:solidFill>
              </a:defRPr>
            </a:pPr>
          </a:p>
        </p:txBody>
      </p:sp>
      <p:sp>
        <p:nvSpPr>
          <p:cNvPr id="17" name="Rounded Rectangle 16"/>
          <p:cNvSpPr/>
          <p:nvPr/>
        </p:nvSpPr>
        <p:spPr>
          <a:xfrm>
            <a:off x="1920239" y="4270248"/>
            <a:ext cx="29260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多端点多包</a:t>
            </a:r>
          </a:p>
          <a:p>
            <a:pPr>
              <a:defRPr sz="1200">
                <a:solidFill>
                  <a:srgbClr val="606D85"/>
                </a:solidFill>
              </a:defRPr>
            </a:pPr>
          </a:p>
        </p:txBody>
      </p:sp>
      <p:sp>
        <p:nvSpPr>
          <p:cNvPr id="18" name="Rounded Rectangle 17"/>
          <p:cNvSpPr/>
          <p:nvPr/>
        </p:nvSpPr>
        <p:spPr>
          <a:xfrm>
            <a:off x="4846320" y="4270248"/>
            <a:ext cx="3749039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统一项目客户端 + 项目端点</a:t>
            </a:r>
          </a:p>
          <a:p>
            <a:pPr>
              <a:defRPr sz="1200">
                <a:solidFill>
                  <a:srgbClr val="606D85"/>
                </a:solidFill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06D85"/>
                </a:solidFill>
              </a:defRPr>
            </a:pPr>
            <a:r>
              <a:t>来源：Evolution of Foundry（官方迁移对照）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400">
                <a:solidFill>
                  <a:srgbClr val="232B3F"/>
                </a:solidFill>
              </a:defRPr>
            </a:pPr>
            <a:r>
              <a:t>3) 适用人群与典型价值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06D85"/>
                </a:solidFill>
              </a:defRPr>
            </a:pPr>
            <a:r>
              <a:t>官方定义的三类核心用户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256032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应用开发者</a:t>
            </a:r>
          </a:p>
          <a:p>
            <a:pPr>
              <a:defRPr sz="1200">
                <a:solidFill>
                  <a:srgbClr val="606D85"/>
                </a:solidFill>
              </a:defRPr>
            </a:pPr>
            <a:r>
              <a:t>构建基于模型与智能体的产品，快速集成工具与知识能力。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1371600"/>
            <a:ext cx="256032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ML 工程师 / 数据科学家</a:t>
            </a:r>
          </a:p>
          <a:p>
            <a:pPr>
              <a:defRPr sz="1200">
                <a:solidFill>
                  <a:srgbClr val="606D85"/>
                </a:solidFill>
              </a:defRPr>
            </a:pPr>
            <a:r>
              <a:t>进行微调、评估与模型部署运营，提升效果与稳定性。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371600"/>
            <a:ext cx="256032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IT 管理员 / 平台工程师</a:t>
            </a:r>
          </a:p>
          <a:p>
            <a:pPr>
              <a:defRPr sz="1200">
                <a:solidFill>
                  <a:srgbClr val="606D85"/>
                </a:solidFill>
              </a:defRPr>
            </a:pPr>
            <a:r>
              <a:t>执行治理、访问控制、策略与合规审计。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06D85"/>
                </a:solidFill>
              </a:defRPr>
            </a:pPr>
            <a:r>
              <a:t>来源：Who is Foundry for?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400">
                <a:solidFill>
                  <a:srgbClr val="232B3F"/>
                </a:solidFill>
              </a:defRPr>
            </a:pPr>
            <a:r>
              <a:t>4) 构建能力：智能体与工具体系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06D85"/>
                </a:solidFill>
              </a:defRPr>
            </a:pPr>
            <a:r>
              <a:t>面向 agentic 应用的官方能力清单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25146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多智能体编排</a:t>
            </a:r>
          </a:p>
          <a:p>
            <a:pPr>
              <a:defRPr sz="1200">
                <a:solidFill>
                  <a:srgbClr val="606D85"/>
                </a:solidFill>
              </a:defRPr>
            </a:pPr>
            <a:r>
              <a:t>支持协作式工作流与复杂任务拆解。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6120" y="1280160"/>
            <a:ext cx="25146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工具目录</a:t>
            </a:r>
          </a:p>
          <a:p>
            <a:pPr>
              <a:defRPr sz="1200">
                <a:solidFill>
                  <a:srgbClr val="606D85"/>
                </a:solidFill>
              </a:defRPr>
            </a:pPr>
            <a:r>
              <a:t>对接 1,400+ 工具，覆盖公有与私有源。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280160"/>
            <a:ext cx="26517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Memory</a:t>
            </a:r>
          </a:p>
          <a:p>
            <a:pPr>
              <a:defRPr sz="1200">
                <a:solidFill>
                  <a:srgbClr val="606D85"/>
                </a:solidFill>
              </a:defRPr>
            </a:pPr>
            <a:r>
              <a:t>跨会话保留上下文，降低重复输入成本。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43200"/>
            <a:ext cx="3931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Foundry IQ</a:t>
            </a:r>
          </a:p>
          <a:p>
            <a:pPr>
              <a:defRPr sz="1200">
                <a:solidFill>
                  <a:srgbClr val="606D85"/>
                </a:solidFill>
              </a:defRPr>
            </a:pPr>
            <a:r>
              <a:t>连接企业/网页知识，输出可溯源引用结果。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2743200"/>
            <a:ext cx="3931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发布能力</a:t>
            </a:r>
          </a:p>
          <a:p>
            <a:pPr>
              <a:defRPr sz="1200">
                <a:solidFill>
                  <a:srgbClr val="606D85"/>
                </a:solidFill>
              </a:defRPr>
            </a:pPr>
            <a:r>
              <a:t>发布到 Microsoft 365、Teams、BizChat 或容器部署。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06D85"/>
                </a:solidFill>
              </a:defRPr>
            </a:pPr>
            <a:r>
              <a:t>来源：Key capabilities - Build agents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400">
                <a:solidFill>
                  <a:srgbClr val="232B3F"/>
                </a:solidFill>
              </a:defRPr>
            </a:pPr>
            <a:r>
              <a:t>5) 运维与治理：企业落地的关键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06D85"/>
                </a:solidFill>
              </a:defRPr>
            </a:pPr>
            <a:r>
              <a:t>性能、可观测、权限与策略统一管理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3840480" cy="1097280"/>
          </a:xfrm>
          <a:prstGeom prst="roundRect">
            <a:avLst/>
          </a:prstGeom>
          <a:solidFill>
            <a:srgbClr val="EBF3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实时可观测</a:t>
            </a:r>
          </a:p>
          <a:p>
            <a:pPr>
              <a:defRPr sz="1200">
                <a:solidFill>
                  <a:srgbClr val="606D85"/>
                </a:solidFill>
              </a:defRPr>
            </a:pPr>
            <a:r>
              <a:t>持续评估与监控，定位模型/智能体质量与风险。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1280160"/>
            <a:ext cx="3840480" cy="1097280"/>
          </a:xfrm>
          <a:prstGeom prst="roundRect">
            <a:avLst/>
          </a:prstGeom>
          <a:solidFill>
            <a:srgbClr val="EBF3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资产集中运营</a:t>
            </a:r>
          </a:p>
          <a:p>
            <a:pPr>
              <a:defRPr sz="1200">
                <a:solidFill>
                  <a:srgbClr val="606D85"/>
                </a:solidFill>
              </a:defRPr>
            </a:pPr>
            <a:r>
              <a:t>统一管理跨云注册的模型、智能体与工具。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51760"/>
            <a:ext cx="78638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企业级控制面</a:t>
            </a:r>
          </a:p>
          <a:p>
            <a:pPr>
              <a:defRPr sz="1200">
                <a:solidFill>
                  <a:srgbClr val="606D85"/>
                </a:solidFill>
              </a:defRPr>
            </a:pPr>
            <a:r>
              <a:t>支持 MCP/A2A 认证、AI Gateway 与 Azure Policy 集成，实现规模治理。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06D85"/>
                </a:solidFill>
              </a:defRPr>
            </a:pPr>
            <a:r>
              <a:t>来源：Key capabilities - Operate and govern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400">
                <a:solidFill>
                  <a:srgbClr val="232B3F"/>
                </a:solidFill>
              </a:defRPr>
            </a:pPr>
            <a:r>
              <a:t>6) SDK/API 选型建议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06D85"/>
                </a:solidFill>
              </a:defRPr>
            </a:pPr>
            <a:r>
              <a:t>官方文档：按场景选择最小复杂度路径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192024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Foundry SDK</a:t>
            </a:r>
          </a:p>
          <a:p>
            <a:pPr>
              <a:defRPr sz="1200">
                <a:solidFill>
                  <a:srgbClr val="606D85"/>
                </a:solidFill>
              </a:defRPr>
            </a:pPr>
            <a:r>
              <a:t>项目端点统一接入</a:t>
            </a:r>
            <a:br/>
            <a:r>
              <a:t>适合 Agents / Evaluations / Foundry 特性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51760" y="1280160"/>
            <a:ext cx="192024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OpenAI SDK</a:t>
            </a:r>
          </a:p>
          <a:p>
            <a:pPr>
              <a:defRPr sz="1200">
                <a:solidFill>
                  <a:srgbClr val="606D85"/>
                </a:solidFill>
              </a:defRPr>
            </a:pPr>
            <a:r>
              <a:t>OpenAI API 兼容优先</a:t>
            </a:r>
            <a:br/>
            <a:r>
              <a:t>适合 Chat Completions 场景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280160"/>
            <a:ext cx="192024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Tools SDK</a:t>
            </a:r>
          </a:p>
          <a:p>
            <a:pPr>
              <a:defRPr sz="1200">
                <a:solidFill>
                  <a:srgbClr val="606D85"/>
                </a:solidFill>
              </a:defRPr>
            </a:pPr>
            <a:r>
              <a:t>Vision / Speech / Safety 等专项能力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280160"/>
            <a:ext cx="173736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Agent Framework</a:t>
            </a:r>
          </a:p>
          <a:p>
            <a:pPr>
              <a:defRPr sz="1200">
                <a:solidFill>
                  <a:srgbClr val="606D85"/>
                </a:solidFill>
              </a:defRPr>
            </a:pPr>
            <a:r>
              <a:t>多智能体编排代码化</a:t>
            </a:r>
            <a:br/>
            <a:r>
              <a:t>云无关设计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06D85"/>
                </a:solidFill>
              </a:defRPr>
            </a:pPr>
            <a:r>
              <a:t>来源：SDK Overview（Foundry endpoint vs OpenAI endpoint）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400">
                <a:solidFill>
                  <a:srgbClr val="232B3F"/>
                </a:solidFill>
              </a:defRPr>
            </a:pPr>
            <a:r>
              <a:t>7) Workflow 编排模式（官方）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06D85"/>
                </a:solidFill>
              </a:defRPr>
            </a:pPr>
            <a:r>
              <a:t>在可视化设计器中构建可重复流程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256032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Human in the loop</a:t>
            </a:r>
          </a:p>
          <a:p>
            <a:pPr>
              <a:defRPr sz="1200">
                <a:solidFill>
                  <a:srgbClr val="606D85"/>
                </a:solidFill>
              </a:defRPr>
            </a:pPr>
            <a:r>
              <a:t>引入审批/澄清节点，满足高风险业务的人机协同。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1371600"/>
            <a:ext cx="256032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Sequential</a:t>
            </a:r>
          </a:p>
          <a:p>
            <a:pPr>
              <a:defRPr sz="1200">
                <a:solidFill>
                  <a:srgbClr val="606D85"/>
                </a:solidFill>
              </a:defRPr>
            </a:pPr>
            <a:r>
              <a:t>按固定顺序串联多个 Agent，适合流水线处理。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371600"/>
            <a:ext cx="256032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Group chat</a:t>
            </a:r>
          </a:p>
          <a:p>
            <a:pPr>
              <a:defRPr sz="1200">
                <a:solidFill>
                  <a:srgbClr val="606D85"/>
                </a:solidFill>
              </a:defRPr>
            </a:pPr>
            <a:r>
              <a:t>根据上下文动态切换 Agent，适合专家分工与升级。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06D85"/>
                </a:solidFill>
              </a:defRPr>
            </a:pPr>
            <a:r>
              <a:t>来源：Agents Workflow 概念文档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400">
                <a:solidFill>
                  <a:srgbClr val="232B3F"/>
                </a:solidFill>
              </a:defRPr>
            </a:pPr>
            <a:r>
              <a:t>8) 成本与区域规划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06D85"/>
                </a:solidFill>
              </a:defRPr>
            </a:pPr>
            <a:r>
              <a:t>先估算、再验证、后规模化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325880"/>
          <a:ext cx="3840480" cy="2834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663440" y="1371600"/>
            <a:ext cx="38404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成本管理关键动作</a:t>
            </a:r>
          </a:p>
          <a:p>
            <a:pPr>
              <a:defRPr sz="1200">
                <a:solidFill>
                  <a:srgbClr val="606D85"/>
                </a:solidFill>
              </a:defRPr>
            </a:pPr>
            <a:r>
              <a:t>1) 定价计算器估算</a:t>
            </a:r>
            <a:br/>
            <a:r>
              <a:t>2) 小流量压测校准</a:t>
            </a:r>
            <a:br/>
            <a:r>
              <a:t>3) Cost Management 按 Meter 对账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2743200"/>
            <a:ext cx="38404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区域规划关键动作</a:t>
            </a:r>
          </a:p>
          <a:p>
            <a:pPr>
              <a:defRPr sz="1200">
                <a:solidFill>
                  <a:srgbClr val="606D85"/>
                </a:solidFill>
              </a:defRPr>
            </a:pPr>
            <a:r>
              <a:t>先选候选区域，再核验模型/工具可用性与配额。</a:t>
            </a:r>
            <a:br/>
            <a:r>
              <a:t>官方文档当前列出 30+ Foundry 项目区域。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06D85"/>
                </a:solidFill>
              </a:defRPr>
            </a:pPr>
            <a:r>
              <a:t>来源：Manage costs / Region support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400">
                <a:solidFill>
                  <a:srgbClr val="FFFFFF"/>
                </a:solidFill>
              </a:defRPr>
            </a:pPr>
            <a:r>
              <a:t>9) 落地路线图与官方资料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建议从小场景试点，逐步扩展到生产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8046720" cy="1371600"/>
          </a:xfrm>
          <a:prstGeom prst="roundRect">
            <a:avLst/>
          </a:prstGeom>
          <a:solidFill>
            <a:srgbClr val="E9F1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2B3F"/>
                </a:solidFill>
              </a:defRPr>
            </a:pPr>
            <a:r>
              <a:t>90 天落地建议（示例）</a:t>
            </a:r>
          </a:p>
          <a:p>
            <a:pPr>
              <a:defRPr sz="1200">
                <a:solidFill>
                  <a:srgbClr val="606D85"/>
                </a:solidFill>
              </a:defRPr>
            </a:pPr>
            <a:r>
              <a:t>阶段1：搭建 Foundry 项目与最小可用 Agent</a:t>
            </a:r>
            <a:br/>
            <a:r>
              <a:t>阶段2：接入企业知识与工具，建立评估指标</a:t>
            </a:r>
            <a:br/>
            <a:r>
              <a:t>阶段3：上线监控、预算告警与治理策略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26080"/>
            <a:ext cx="8046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官方文档入口：https://learn.microsoft.com/azure/ai-foundry/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What is Foundry：https://learn.microsoft.com/en-us/azure/ai-foundry/what-is-azure-ai-foundry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SDK 概览：https://learn.microsoft.com/en-us/azure/ai-foundry/how-to/develop/sdk-overview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Workflow：https://learn.microsoft.com/en-us/azure/ai-foundry/agents/concepts/workflow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成本管理：https://learn.microsoft.com/en-us/azure/ai-foundry/concepts/manage-costs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区域支持：https://learn.microsoft.com/en-us/azure/ai-foundry/reference/region-support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