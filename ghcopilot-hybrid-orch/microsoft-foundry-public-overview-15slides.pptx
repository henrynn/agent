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成本构成示例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模型推理</c:v>
                </c:pt>
                <c:pt idx="1">
                  <c:v>工具服务</c:v>
                </c:pt>
                <c:pt idx="2">
                  <c:v>微调/托管</c:v>
                </c:pt>
                <c:pt idx="3">
                  <c:v>治理与观测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45</c:v>
                </c:pt>
                <c:pt idx="1">
                  <c:v>25</c:v>
                </c:pt>
                <c:pt idx="2">
                  <c:v>20</c:v>
                </c:pt>
                <c:pt idx="3">
                  <c:v>10</c:v>
                </c:pt>
              </c:numCache>
            </c:numRef>
          </c:val>
        </c:ser>
      </c:pieChart>
    </c:plotArea>
    <c:legend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046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b="1" sz="3400">
                <a:solidFill>
                  <a:srgbClr val="FFFFFF"/>
                </a:solidFill>
              </a:defRPr>
            </a:pPr>
            <a:r>
              <a:t>Microsoft Foundry 公开资料解读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FFFFFF"/>
                </a:solidFill>
              </a:defRPr>
            </a:pPr>
            <a:r>
              <a:t>面向企业 AI 应用的统一平台（15 页）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920240"/>
            <a:ext cx="2926080" cy="640080"/>
          </a:xfrm>
          <a:prstGeom prst="roundRect">
            <a:avLst/>
          </a:prstGeom>
          <a:solidFill>
            <a:srgbClr val="2A7A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来源：Microsoft Learn 官方文档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709160"/>
            <a:ext cx="8046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DCE3F4"/>
                </a:solidFill>
              </a:defRPr>
            </a:pPr>
            <a:r>
              <a:t>https://learn.microsoft.com/azure/ai-foundry/what-is-azure-ai-foundry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046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b="1" sz="3400">
                <a:solidFill>
                  <a:srgbClr val="232B3F"/>
                </a:solidFill>
              </a:defRPr>
            </a:pPr>
            <a:r>
              <a:t>1) 什么是 Microsoft Foundry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606D85"/>
                </a:solidFill>
              </a:defRPr>
            </a:pPr>
            <a:r>
              <a:t>统一管理模型、智能体与工具的企业级 AI 平台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280160"/>
            <a:ext cx="384048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600">
                <a:solidFill>
                  <a:srgbClr val="232B3F"/>
                </a:solidFill>
              </a:defRPr>
            </a:pPr>
            <a:r>
              <a:t>平台定位</a:t>
            </a:r>
          </a:p>
          <a:p>
            <a:pPr>
              <a:defRPr sz="1200">
                <a:solidFill>
                  <a:srgbClr val="606D85"/>
                </a:solidFill>
              </a:defRPr>
            </a:pPr>
            <a:r>
              <a:t>PaaS 形态，聚焦应用开发与运维治理，减少基础设施管理复杂度。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663440" y="1280160"/>
            <a:ext cx="393192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600">
                <a:solidFill>
                  <a:srgbClr val="232B3F"/>
                </a:solidFill>
              </a:defRPr>
            </a:pPr>
            <a:r>
              <a:t>统一控制面</a:t>
            </a:r>
          </a:p>
          <a:p>
            <a:pPr>
              <a:defRPr sz="1200">
                <a:solidFill>
                  <a:srgbClr val="606D85"/>
                </a:solidFill>
              </a:defRPr>
            </a:pPr>
            <a:r>
              <a:t>将 RBAC、网络、策略与资产管理汇聚到单一资源模型。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834640"/>
            <a:ext cx="8046720" cy="1463040"/>
          </a:xfrm>
          <a:prstGeom prst="roundRect">
            <a:avLst/>
          </a:prstGeom>
          <a:solidFill>
            <a:srgbClr val="EBF3FF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600">
                <a:solidFill>
                  <a:srgbClr val="232B3F"/>
                </a:solidFill>
              </a:defRPr>
            </a:pPr>
            <a:r>
              <a:t>核心价值</a:t>
            </a:r>
          </a:p>
          <a:p>
            <a:pPr>
              <a:defRPr sz="1200">
                <a:solidFill>
                  <a:srgbClr val="606D85"/>
                </a:solidFill>
              </a:defRPr>
            </a:pPr>
            <a:r>
              <a:t>以“项目端点 + API/SDK + 门户”统一体验支持构建、评估、监控与规模化落地。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709160"/>
            <a:ext cx="8046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06D85"/>
                </a:solidFill>
              </a:defRPr>
            </a:pPr>
            <a:r>
              <a:t>来源：What is Azure AI Foundry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046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b="1" sz="3400">
                <a:solidFill>
                  <a:srgbClr val="232B3F"/>
                </a:solidFill>
              </a:defRPr>
            </a:pPr>
            <a:r>
              <a:t>2) 平台演进：从分散到统一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606D85"/>
                </a:solidFill>
              </a:defRPr>
            </a:pPr>
            <a:r>
              <a:t>官方文档给出的关键迁移方向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371600"/>
            <a:ext cx="1280160" cy="502920"/>
          </a:xfrm>
          <a:prstGeom prst="roundRect">
            <a:avLst/>
          </a:prstGeom>
          <a:solidFill>
            <a:srgbClr val="DCEAFF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600">
                <a:solidFill>
                  <a:srgbClr val="232B3F"/>
                </a:solidFill>
              </a:defRPr>
            </a:pPr>
            <a:r>
              <a:t>维度</a:t>
            </a:r>
          </a:p>
          <a:p>
            <a:pPr>
              <a:defRPr sz="1200">
                <a:solidFill>
                  <a:srgbClr val="606D85"/>
                </a:solidFill>
              </a:defRPr>
            </a:pPr>
          </a:p>
        </p:txBody>
      </p:sp>
      <p:sp>
        <p:nvSpPr>
          <p:cNvPr id="5" name="Rounded Rectangle 4"/>
          <p:cNvSpPr/>
          <p:nvPr/>
        </p:nvSpPr>
        <p:spPr>
          <a:xfrm>
            <a:off x="1920239" y="1371600"/>
            <a:ext cx="2926080" cy="502920"/>
          </a:xfrm>
          <a:prstGeom prst="roundRect">
            <a:avLst/>
          </a:prstGeom>
          <a:solidFill>
            <a:srgbClr val="DCEAFF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600">
                <a:solidFill>
                  <a:srgbClr val="232B3F"/>
                </a:solidFill>
              </a:defRPr>
            </a:pPr>
            <a:r>
              <a:t>过去</a:t>
            </a:r>
          </a:p>
          <a:p>
            <a:pPr>
              <a:defRPr sz="1200">
                <a:solidFill>
                  <a:srgbClr val="606D85"/>
                </a:solidFill>
              </a:defRPr>
            </a:pPr>
          </a:p>
        </p:txBody>
      </p:sp>
      <p:sp>
        <p:nvSpPr>
          <p:cNvPr id="6" name="Rounded Rectangle 5"/>
          <p:cNvSpPr/>
          <p:nvPr/>
        </p:nvSpPr>
        <p:spPr>
          <a:xfrm>
            <a:off x="4846320" y="1371600"/>
            <a:ext cx="3749039" cy="502920"/>
          </a:xfrm>
          <a:prstGeom prst="roundRect">
            <a:avLst/>
          </a:prstGeom>
          <a:solidFill>
            <a:srgbClr val="DCEAFF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600">
                <a:solidFill>
                  <a:srgbClr val="232B3F"/>
                </a:solidFill>
              </a:defRPr>
            </a:pPr>
            <a:r>
              <a:t>现在</a:t>
            </a:r>
          </a:p>
          <a:p>
            <a:pPr>
              <a:defRPr sz="1200">
                <a:solidFill>
                  <a:srgbClr val="606D85"/>
                </a:solidFill>
              </a:defRPr>
            </a:pPr>
          </a:p>
        </p:txBody>
      </p:sp>
      <p:sp>
        <p:nvSpPr>
          <p:cNvPr id="7" name="Rounded Rectangle 6"/>
          <p:cNvSpPr/>
          <p:nvPr/>
        </p:nvSpPr>
        <p:spPr>
          <a:xfrm>
            <a:off x="640080" y="1938528"/>
            <a:ext cx="128016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600">
                <a:solidFill>
                  <a:srgbClr val="232B3F"/>
                </a:solidFill>
              </a:defRPr>
            </a:pPr>
            <a:r>
              <a:t>品牌</a:t>
            </a:r>
          </a:p>
          <a:p>
            <a:pPr>
              <a:defRPr sz="1200">
                <a:solidFill>
                  <a:srgbClr val="606D85"/>
                </a:solidFill>
              </a:defRPr>
            </a:pPr>
          </a:p>
        </p:txBody>
      </p:sp>
      <p:sp>
        <p:nvSpPr>
          <p:cNvPr id="8" name="Rounded Rectangle 7"/>
          <p:cNvSpPr/>
          <p:nvPr/>
        </p:nvSpPr>
        <p:spPr>
          <a:xfrm>
            <a:off x="1920239" y="1938528"/>
            <a:ext cx="292608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600">
                <a:solidFill>
                  <a:srgbClr val="232B3F"/>
                </a:solidFill>
              </a:defRPr>
            </a:pPr>
            <a:r>
              <a:t>Azure AI Studio / Foundry</a:t>
            </a:r>
          </a:p>
          <a:p>
            <a:pPr>
              <a:defRPr sz="1200">
                <a:solidFill>
                  <a:srgbClr val="606D85"/>
                </a:solidFill>
              </a:defRPr>
            </a:pPr>
          </a:p>
        </p:txBody>
      </p:sp>
      <p:sp>
        <p:nvSpPr>
          <p:cNvPr id="9" name="Rounded Rectangle 8"/>
          <p:cNvSpPr/>
          <p:nvPr/>
        </p:nvSpPr>
        <p:spPr>
          <a:xfrm>
            <a:off x="4846320" y="1938528"/>
            <a:ext cx="3749039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600">
                <a:solidFill>
                  <a:srgbClr val="232B3F"/>
                </a:solidFill>
              </a:defRPr>
            </a:pPr>
            <a:r>
              <a:t>Microsoft Foundry</a:t>
            </a:r>
          </a:p>
          <a:p>
            <a:pPr>
              <a:defRPr sz="1200">
                <a:solidFill>
                  <a:srgbClr val="606D85"/>
                </a:solidFill>
              </a:defRPr>
            </a:pPr>
          </a:p>
        </p:txBody>
      </p:sp>
      <p:sp>
        <p:nvSpPr>
          <p:cNvPr id="10" name="Rounded Rectangle 9"/>
          <p:cNvSpPr/>
          <p:nvPr/>
        </p:nvSpPr>
        <p:spPr>
          <a:xfrm>
            <a:off x="640080" y="2715768"/>
            <a:ext cx="128016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600">
                <a:solidFill>
                  <a:srgbClr val="232B3F"/>
                </a:solidFill>
              </a:defRPr>
            </a:pPr>
            <a:r>
              <a:t>资源模型</a:t>
            </a:r>
          </a:p>
          <a:p>
            <a:pPr>
              <a:defRPr sz="1200">
                <a:solidFill>
                  <a:srgbClr val="606D85"/>
                </a:solidFill>
              </a:defRPr>
            </a:pPr>
          </a:p>
        </p:txBody>
      </p:sp>
      <p:sp>
        <p:nvSpPr>
          <p:cNvPr id="11" name="Rounded Rectangle 10"/>
          <p:cNvSpPr/>
          <p:nvPr/>
        </p:nvSpPr>
        <p:spPr>
          <a:xfrm>
            <a:off x="1920239" y="2715768"/>
            <a:ext cx="292608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600">
                <a:solidFill>
                  <a:srgbClr val="232B3F"/>
                </a:solidFill>
              </a:defRPr>
            </a:pPr>
            <a:r>
              <a:t>Hub + 多资源</a:t>
            </a:r>
          </a:p>
          <a:p>
            <a:pPr>
              <a:defRPr sz="1200">
                <a:solidFill>
                  <a:srgbClr val="606D85"/>
                </a:solidFill>
              </a:defRPr>
            </a:pPr>
          </a:p>
        </p:txBody>
      </p:sp>
      <p:sp>
        <p:nvSpPr>
          <p:cNvPr id="12" name="Rounded Rectangle 11"/>
          <p:cNvSpPr/>
          <p:nvPr/>
        </p:nvSpPr>
        <p:spPr>
          <a:xfrm>
            <a:off x="4846320" y="2715768"/>
            <a:ext cx="3749039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600">
                <a:solidFill>
                  <a:srgbClr val="232B3F"/>
                </a:solidFill>
              </a:defRPr>
            </a:pPr>
            <a:r>
              <a:t>Foundry 资源 + 项目</a:t>
            </a:r>
          </a:p>
          <a:p>
            <a:pPr>
              <a:defRPr sz="1200">
                <a:solidFill>
                  <a:srgbClr val="606D85"/>
                </a:solidFill>
              </a:defRPr>
            </a:pPr>
          </a:p>
        </p:txBody>
      </p:sp>
      <p:sp>
        <p:nvSpPr>
          <p:cNvPr id="13" name="Rounded Rectangle 12"/>
          <p:cNvSpPr/>
          <p:nvPr/>
        </p:nvSpPr>
        <p:spPr>
          <a:xfrm>
            <a:off x="640080" y="3493008"/>
            <a:ext cx="128016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600">
                <a:solidFill>
                  <a:srgbClr val="232B3F"/>
                </a:solidFill>
              </a:defRPr>
            </a:pPr>
            <a:r>
              <a:t>Agent API</a:t>
            </a:r>
          </a:p>
          <a:p>
            <a:pPr>
              <a:defRPr sz="1200">
                <a:solidFill>
                  <a:srgbClr val="606D85"/>
                </a:solidFill>
              </a:defRPr>
            </a:pPr>
          </a:p>
        </p:txBody>
      </p:sp>
      <p:sp>
        <p:nvSpPr>
          <p:cNvPr id="14" name="Rounded Rectangle 13"/>
          <p:cNvSpPr/>
          <p:nvPr/>
        </p:nvSpPr>
        <p:spPr>
          <a:xfrm>
            <a:off x="1920239" y="3493008"/>
            <a:ext cx="292608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600">
                <a:solidFill>
                  <a:srgbClr val="232B3F"/>
                </a:solidFill>
              </a:defRPr>
            </a:pPr>
            <a:r>
              <a:t>Assistants API</a:t>
            </a:r>
          </a:p>
          <a:p>
            <a:pPr>
              <a:defRPr sz="1200">
                <a:solidFill>
                  <a:srgbClr val="606D85"/>
                </a:solidFill>
              </a:defRPr>
            </a:pPr>
          </a:p>
        </p:txBody>
      </p:sp>
      <p:sp>
        <p:nvSpPr>
          <p:cNvPr id="15" name="Rounded Rectangle 14"/>
          <p:cNvSpPr/>
          <p:nvPr/>
        </p:nvSpPr>
        <p:spPr>
          <a:xfrm>
            <a:off x="4846320" y="3493008"/>
            <a:ext cx="3749039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600">
                <a:solidFill>
                  <a:srgbClr val="232B3F"/>
                </a:solidFill>
              </a:defRPr>
            </a:pPr>
            <a:r>
              <a:t>Responses API (v1)</a:t>
            </a:r>
          </a:p>
          <a:p>
            <a:pPr>
              <a:defRPr sz="1200">
                <a:solidFill>
                  <a:srgbClr val="606D85"/>
                </a:solidFill>
              </a:defRPr>
            </a:pPr>
          </a:p>
        </p:txBody>
      </p:sp>
      <p:sp>
        <p:nvSpPr>
          <p:cNvPr id="16" name="Rounded Rectangle 15"/>
          <p:cNvSpPr/>
          <p:nvPr/>
        </p:nvSpPr>
        <p:spPr>
          <a:xfrm>
            <a:off x="640080" y="4270248"/>
            <a:ext cx="128016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600">
                <a:solidFill>
                  <a:srgbClr val="232B3F"/>
                </a:solidFill>
              </a:defRPr>
            </a:pPr>
            <a:r>
              <a:t>SDK与端点</a:t>
            </a:r>
          </a:p>
          <a:p>
            <a:pPr>
              <a:defRPr sz="1200">
                <a:solidFill>
                  <a:srgbClr val="606D85"/>
                </a:solidFill>
              </a:defRPr>
            </a:pPr>
          </a:p>
        </p:txBody>
      </p:sp>
      <p:sp>
        <p:nvSpPr>
          <p:cNvPr id="17" name="Rounded Rectangle 16"/>
          <p:cNvSpPr/>
          <p:nvPr/>
        </p:nvSpPr>
        <p:spPr>
          <a:xfrm>
            <a:off x="1920239" y="4270248"/>
            <a:ext cx="292608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600">
                <a:solidFill>
                  <a:srgbClr val="232B3F"/>
                </a:solidFill>
              </a:defRPr>
            </a:pPr>
            <a:r>
              <a:t>多端点多包</a:t>
            </a:r>
          </a:p>
          <a:p>
            <a:pPr>
              <a:defRPr sz="1200">
                <a:solidFill>
                  <a:srgbClr val="606D85"/>
                </a:solidFill>
              </a:defRPr>
            </a:pPr>
          </a:p>
        </p:txBody>
      </p:sp>
      <p:sp>
        <p:nvSpPr>
          <p:cNvPr id="18" name="Rounded Rectangle 17"/>
          <p:cNvSpPr/>
          <p:nvPr/>
        </p:nvSpPr>
        <p:spPr>
          <a:xfrm>
            <a:off x="4846320" y="4270248"/>
            <a:ext cx="3749039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600">
                <a:solidFill>
                  <a:srgbClr val="232B3F"/>
                </a:solidFill>
              </a:defRPr>
            </a:pPr>
            <a:r>
              <a:t>统一项目客户端 + 项目端点</a:t>
            </a:r>
          </a:p>
          <a:p>
            <a:pPr>
              <a:defRPr sz="1200">
                <a:solidFill>
                  <a:srgbClr val="606D85"/>
                </a:solidFill>
              </a:defRPr>
            </a:pPr>
          </a:p>
        </p:txBody>
      </p:sp>
      <p:sp>
        <p:nvSpPr>
          <p:cNvPr id="19" name="TextBox 18"/>
          <p:cNvSpPr txBox="1"/>
          <p:nvPr/>
        </p:nvSpPr>
        <p:spPr>
          <a:xfrm>
            <a:off x="548640" y="4709160"/>
            <a:ext cx="8046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06D85"/>
                </a:solidFill>
              </a:defRPr>
            </a:pPr>
            <a:r>
              <a:t>来源：Evolution of Foundry（官方迁移对照）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046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b="1" sz="3400">
                <a:solidFill>
                  <a:srgbClr val="232B3F"/>
                </a:solidFill>
              </a:defRPr>
            </a:pPr>
            <a:r>
              <a:t>3) 适用人群与典型价值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606D85"/>
                </a:solidFill>
              </a:defRPr>
            </a:pPr>
            <a:r>
              <a:t>官方定义的三类核心用户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2560320" cy="2560320"/>
          </a:xfrm>
          <a:prstGeom prst="roundRect">
            <a:avLst/>
          </a:prstGeom>
          <a:solidFill>
            <a:srgbClr val="FFFFFF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600">
                <a:solidFill>
                  <a:srgbClr val="232B3F"/>
                </a:solidFill>
              </a:defRPr>
            </a:pPr>
            <a:r>
              <a:t>应用开发者</a:t>
            </a:r>
          </a:p>
          <a:p>
            <a:pPr>
              <a:defRPr sz="1200">
                <a:solidFill>
                  <a:srgbClr val="606D85"/>
                </a:solidFill>
              </a:defRPr>
            </a:pPr>
            <a:r>
              <a:t>构建基于模型与智能体的产品，快速集成工具与知识能力。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91840" y="1371600"/>
            <a:ext cx="2560320" cy="2560320"/>
          </a:xfrm>
          <a:prstGeom prst="roundRect">
            <a:avLst/>
          </a:prstGeom>
          <a:solidFill>
            <a:srgbClr val="FFFFFF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600">
                <a:solidFill>
                  <a:srgbClr val="232B3F"/>
                </a:solidFill>
              </a:defRPr>
            </a:pPr>
            <a:r>
              <a:t>ML 工程师 / 数据科学家</a:t>
            </a:r>
          </a:p>
          <a:p>
            <a:pPr>
              <a:defRPr sz="1200">
                <a:solidFill>
                  <a:srgbClr val="606D85"/>
                </a:solidFill>
              </a:defRPr>
            </a:pPr>
            <a:r>
              <a:t>进行微调、评估与模型部署运营，提升效果与稳定性。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35040" y="1371600"/>
            <a:ext cx="2560320" cy="2560320"/>
          </a:xfrm>
          <a:prstGeom prst="roundRect">
            <a:avLst/>
          </a:prstGeom>
          <a:solidFill>
            <a:srgbClr val="FFFFFF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600">
                <a:solidFill>
                  <a:srgbClr val="232B3F"/>
                </a:solidFill>
              </a:defRPr>
            </a:pPr>
            <a:r>
              <a:t>IT 管理员 / 平台工程师</a:t>
            </a:r>
          </a:p>
          <a:p>
            <a:pPr>
              <a:defRPr sz="1200">
                <a:solidFill>
                  <a:srgbClr val="606D85"/>
                </a:solidFill>
              </a:defRPr>
            </a:pPr>
            <a:r>
              <a:t>执行治理、访问控制、策略与合规审计。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709160"/>
            <a:ext cx="8046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06D85"/>
                </a:solidFill>
              </a:defRPr>
            </a:pPr>
            <a:r>
              <a:t>来源：Who is Foundry for?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046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b="1" sz="3400">
                <a:solidFill>
                  <a:srgbClr val="232B3F"/>
                </a:solidFill>
              </a:defRPr>
            </a:pPr>
            <a:r>
              <a:t>4) 构建能力：智能体与工具体系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606D85"/>
                </a:solidFill>
              </a:defRPr>
            </a:pPr>
            <a:r>
              <a:t>面向 agentic 应用的官方能力清单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280160"/>
            <a:ext cx="251460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600">
                <a:solidFill>
                  <a:srgbClr val="232B3F"/>
                </a:solidFill>
              </a:defRPr>
            </a:pPr>
            <a:r>
              <a:t>多智能体编排</a:t>
            </a:r>
          </a:p>
          <a:p>
            <a:pPr>
              <a:defRPr sz="1200">
                <a:solidFill>
                  <a:srgbClr val="606D85"/>
                </a:solidFill>
              </a:defRPr>
            </a:pPr>
            <a:r>
              <a:t>支持协作式工作流与复杂任务拆解。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46120" y="1280160"/>
            <a:ext cx="251460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600">
                <a:solidFill>
                  <a:srgbClr val="232B3F"/>
                </a:solidFill>
              </a:defRPr>
            </a:pPr>
            <a:r>
              <a:t>工具目录</a:t>
            </a:r>
          </a:p>
          <a:p>
            <a:pPr>
              <a:defRPr sz="1200">
                <a:solidFill>
                  <a:srgbClr val="606D85"/>
                </a:solidFill>
              </a:defRPr>
            </a:pPr>
            <a:r>
              <a:t>对接 1,400+ 工具，覆盖公有与私有源。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0" y="1280160"/>
            <a:ext cx="265176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600">
                <a:solidFill>
                  <a:srgbClr val="232B3F"/>
                </a:solidFill>
              </a:defRPr>
            </a:pPr>
            <a:r>
              <a:t>Memory</a:t>
            </a:r>
          </a:p>
          <a:p>
            <a:pPr>
              <a:defRPr sz="1200">
                <a:solidFill>
                  <a:srgbClr val="606D85"/>
                </a:solidFill>
              </a:defRPr>
            </a:pPr>
            <a:r>
              <a:t>跨会话保留上下文，降低重复输入成本。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743200"/>
            <a:ext cx="393192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600">
                <a:solidFill>
                  <a:srgbClr val="232B3F"/>
                </a:solidFill>
              </a:defRPr>
            </a:pPr>
            <a:r>
              <a:t>Foundry IQ</a:t>
            </a:r>
          </a:p>
          <a:p>
            <a:pPr>
              <a:defRPr sz="1200">
                <a:solidFill>
                  <a:srgbClr val="606D85"/>
                </a:solidFill>
              </a:defRPr>
            </a:pPr>
            <a:r>
              <a:t>连接企业/网页知识，输出可溯源引用结果。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63440" y="2743200"/>
            <a:ext cx="393192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600">
                <a:solidFill>
                  <a:srgbClr val="232B3F"/>
                </a:solidFill>
              </a:defRPr>
            </a:pPr>
            <a:r>
              <a:t>发布能力</a:t>
            </a:r>
          </a:p>
          <a:p>
            <a:pPr>
              <a:defRPr sz="1200">
                <a:solidFill>
                  <a:srgbClr val="606D85"/>
                </a:solidFill>
              </a:defRPr>
            </a:pPr>
            <a:r>
              <a:t>发布到 Microsoft 365、Teams、BizChat 或容器部署。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709160"/>
            <a:ext cx="8046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06D85"/>
                </a:solidFill>
              </a:defRPr>
            </a:pPr>
            <a:r>
              <a:t>来源：Key capabilities - Build agents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046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b="1" sz="3400">
                <a:solidFill>
                  <a:srgbClr val="232B3F"/>
                </a:solidFill>
              </a:defRPr>
            </a:pPr>
            <a:r>
              <a:t>5) 运维与治理：企业落地的关键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606D85"/>
                </a:solidFill>
              </a:defRPr>
            </a:pPr>
            <a:r>
              <a:t>性能、可观测、权限与策略统一管理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280160"/>
            <a:ext cx="3840480" cy="1097280"/>
          </a:xfrm>
          <a:prstGeom prst="roundRect">
            <a:avLst/>
          </a:prstGeom>
          <a:solidFill>
            <a:srgbClr val="EBF3FF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600">
                <a:solidFill>
                  <a:srgbClr val="232B3F"/>
                </a:solidFill>
              </a:defRPr>
            </a:pPr>
            <a:r>
              <a:t>实时可观测</a:t>
            </a:r>
          </a:p>
          <a:p>
            <a:pPr>
              <a:defRPr sz="1200">
                <a:solidFill>
                  <a:srgbClr val="606D85"/>
                </a:solidFill>
              </a:defRPr>
            </a:pPr>
            <a:r>
              <a:t>持续评估与监控，定位模型/智能体质量与风险。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663440" y="1280160"/>
            <a:ext cx="3840480" cy="1097280"/>
          </a:xfrm>
          <a:prstGeom prst="roundRect">
            <a:avLst/>
          </a:prstGeom>
          <a:solidFill>
            <a:srgbClr val="EBF3FF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600">
                <a:solidFill>
                  <a:srgbClr val="232B3F"/>
                </a:solidFill>
              </a:defRPr>
            </a:pPr>
            <a:r>
              <a:t>资产集中运营</a:t>
            </a:r>
          </a:p>
          <a:p>
            <a:pPr>
              <a:defRPr sz="1200">
                <a:solidFill>
                  <a:srgbClr val="606D85"/>
                </a:solidFill>
              </a:defRPr>
            </a:pPr>
            <a:r>
              <a:t>统一管理跨云注册的模型、智能体与工具。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651760"/>
            <a:ext cx="786384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600">
                <a:solidFill>
                  <a:srgbClr val="232B3F"/>
                </a:solidFill>
              </a:defRPr>
            </a:pPr>
            <a:r>
              <a:t>企业级控制面</a:t>
            </a:r>
          </a:p>
          <a:p>
            <a:pPr>
              <a:defRPr sz="1200">
                <a:solidFill>
                  <a:srgbClr val="606D85"/>
                </a:solidFill>
              </a:defRPr>
            </a:pPr>
            <a:r>
              <a:t>支持 MCP/A2A 认证、AI Gateway 与 Azure Policy 集成，实现规模治理。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709160"/>
            <a:ext cx="8046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06D85"/>
                </a:solidFill>
              </a:defRPr>
            </a:pPr>
            <a:r>
              <a:t>来源：Key capabilities - Operate and govern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046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b="1" sz="3400">
                <a:solidFill>
                  <a:srgbClr val="232B3F"/>
                </a:solidFill>
              </a:defRPr>
            </a:pPr>
            <a:r>
              <a:t>6) SDK/API 选型建议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606D85"/>
                </a:solidFill>
              </a:defRPr>
            </a:pPr>
            <a:r>
              <a:t>官方文档：按场景选择最小复杂度路径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280160"/>
            <a:ext cx="1920240" cy="2468880"/>
          </a:xfrm>
          <a:prstGeom prst="roundRect">
            <a:avLst/>
          </a:prstGeom>
          <a:solidFill>
            <a:srgbClr val="FFFFFF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600">
                <a:solidFill>
                  <a:srgbClr val="232B3F"/>
                </a:solidFill>
              </a:defRPr>
            </a:pPr>
            <a:r>
              <a:t>Foundry SDK</a:t>
            </a:r>
          </a:p>
          <a:p>
            <a:pPr>
              <a:defRPr sz="1200">
                <a:solidFill>
                  <a:srgbClr val="606D85"/>
                </a:solidFill>
              </a:defRPr>
            </a:pPr>
            <a:r>
              <a:t>项目端点统一接入</a:t>
            </a:r>
            <a:br/>
            <a:r>
              <a:t>适合 Agents / Evaluations / Foundry 特性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651760" y="1280160"/>
            <a:ext cx="1920240" cy="2468880"/>
          </a:xfrm>
          <a:prstGeom prst="roundRect">
            <a:avLst/>
          </a:prstGeom>
          <a:solidFill>
            <a:srgbClr val="FFFFFF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600">
                <a:solidFill>
                  <a:srgbClr val="232B3F"/>
                </a:solidFill>
              </a:defRPr>
            </a:pPr>
            <a:r>
              <a:t>OpenAI SDK</a:t>
            </a:r>
          </a:p>
          <a:p>
            <a:pPr>
              <a:defRPr sz="1200">
                <a:solidFill>
                  <a:srgbClr val="606D85"/>
                </a:solidFill>
              </a:defRPr>
            </a:pPr>
            <a:r>
              <a:t>OpenAI API 兼容优先</a:t>
            </a:r>
            <a:br/>
            <a:r>
              <a:t>适合 Chat Completions 场景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754880" y="1280160"/>
            <a:ext cx="1920240" cy="2468880"/>
          </a:xfrm>
          <a:prstGeom prst="roundRect">
            <a:avLst/>
          </a:prstGeom>
          <a:solidFill>
            <a:srgbClr val="FFFFFF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600">
                <a:solidFill>
                  <a:srgbClr val="232B3F"/>
                </a:solidFill>
              </a:defRPr>
            </a:pPr>
            <a:r>
              <a:t>Tools SDK</a:t>
            </a:r>
          </a:p>
          <a:p>
            <a:pPr>
              <a:defRPr sz="1200">
                <a:solidFill>
                  <a:srgbClr val="606D85"/>
                </a:solidFill>
              </a:defRPr>
            </a:pPr>
            <a:r>
              <a:t>Vision / Speech / Safety 等专项能力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0" y="1280160"/>
            <a:ext cx="1737360" cy="2468880"/>
          </a:xfrm>
          <a:prstGeom prst="roundRect">
            <a:avLst/>
          </a:prstGeom>
          <a:solidFill>
            <a:srgbClr val="FFFFFF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600">
                <a:solidFill>
                  <a:srgbClr val="232B3F"/>
                </a:solidFill>
              </a:defRPr>
            </a:pPr>
            <a:r>
              <a:t>Agent Framework</a:t>
            </a:r>
          </a:p>
          <a:p>
            <a:pPr>
              <a:defRPr sz="1200">
                <a:solidFill>
                  <a:srgbClr val="606D85"/>
                </a:solidFill>
              </a:defRPr>
            </a:pPr>
            <a:r>
              <a:t>多智能体编排代码化</a:t>
            </a:r>
            <a:br/>
            <a:r>
              <a:t>云无关设计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709160"/>
            <a:ext cx="8046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06D85"/>
                </a:solidFill>
              </a:defRPr>
            </a:pPr>
            <a:r>
              <a:t>来源：SDK Overview（Foundry endpoint vs OpenAI endpoint）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046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b="1" sz="3400">
                <a:solidFill>
                  <a:srgbClr val="232B3F"/>
                </a:solidFill>
              </a:defRPr>
            </a:pPr>
            <a:r>
              <a:t>7) Workflow 编排模式（官方）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606D85"/>
                </a:solidFill>
              </a:defRPr>
            </a:pPr>
            <a:r>
              <a:t>在可视化设计器中构建可重复流程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2560320" cy="2468880"/>
          </a:xfrm>
          <a:prstGeom prst="roundRect">
            <a:avLst/>
          </a:prstGeom>
          <a:solidFill>
            <a:srgbClr val="FFFFFF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600">
                <a:solidFill>
                  <a:srgbClr val="232B3F"/>
                </a:solidFill>
              </a:defRPr>
            </a:pPr>
            <a:r>
              <a:t>Human in the loop</a:t>
            </a:r>
          </a:p>
          <a:p>
            <a:pPr>
              <a:defRPr sz="1200">
                <a:solidFill>
                  <a:srgbClr val="606D85"/>
                </a:solidFill>
              </a:defRPr>
            </a:pPr>
            <a:r>
              <a:t>引入审批/澄清节点，满足高风险业务的人机协同。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91840" y="1371600"/>
            <a:ext cx="2560320" cy="2468880"/>
          </a:xfrm>
          <a:prstGeom prst="roundRect">
            <a:avLst/>
          </a:prstGeom>
          <a:solidFill>
            <a:srgbClr val="FFFFFF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600">
                <a:solidFill>
                  <a:srgbClr val="232B3F"/>
                </a:solidFill>
              </a:defRPr>
            </a:pPr>
            <a:r>
              <a:t>Sequential</a:t>
            </a:r>
          </a:p>
          <a:p>
            <a:pPr>
              <a:defRPr sz="1200">
                <a:solidFill>
                  <a:srgbClr val="606D85"/>
                </a:solidFill>
              </a:defRPr>
            </a:pPr>
            <a:r>
              <a:t>按固定顺序串联多个 Agent，适合流水线处理。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35040" y="1371600"/>
            <a:ext cx="2560320" cy="2468880"/>
          </a:xfrm>
          <a:prstGeom prst="roundRect">
            <a:avLst/>
          </a:prstGeom>
          <a:solidFill>
            <a:srgbClr val="FFFFFF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600">
                <a:solidFill>
                  <a:srgbClr val="232B3F"/>
                </a:solidFill>
              </a:defRPr>
            </a:pPr>
            <a:r>
              <a:t>Group chat</a:t>
            </a:r>
          </a:p>
          <a:p>
            <a:pPr>
              <a:defRPr sz="1200">
                <a:solidFill>
                  <a:srgbClr val="606D85"/>
                </a:solidFill>
              </a:defRPr>
            </a:pPr>
            <a:r>
              <a:t>根据上下文动态切换 Agent，适合专家分工与升级。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709160"/>
            <a:ext cx="8046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06D85"/>
                </a:solidFill>
              </a:defRPr>
            </a:pPr>
            <a:r>
              <a:t>来源：Agents Workflow 概念文档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046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b="1" sz="3400">
                <a:solidFill>
                  <a:srgbClr val="232B3F"/>
                </a:solidFill>
              </a:defRPr>
            </a:pPr>
            <a:r>
              <a:t>8) 成本与区域规划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606D85"/>
                </a:solidFill>
              </a:defRPr>
            </a:pPr>
            <a:r>
              <a:t>先估算、再验证、后规模化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640080" y="1325880"/>
          <a:ext cx="3840480" cy="28346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4663440" y="1371600"/>
            <a:ext cx="384048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600">
                <a:solidFill>
                  <a:srgbClr val="232B3F"/>
                </a:solidFill>
              </a:defRPr>
            </a:pPr>
            <a:r>
              <a:t>成本管理关键动作</a:t>
            </a:r>
          </a:p>
          <a:p>
            <a:pPr>
              <a:defRPr sz="1200">
                <a:solidFill>
                  <a:srgbClr val="606D85"/>
                </a:solidFill>
              </a:defRPr>
            </a:pPr>
            <a:r>
              <a:t>1) 定价计算器估算</a:t>
            </a:r>
            <a:br/>
            <a:r>
              <a:t>2) 小流量压测校准</a:t>
            </a:r>
            <a:br/>
            <a:r>
              <a:t>3) Cost Management 按 Meter 对账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663440" y="2743200"/>
            <a:ext cx="384048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600">
                <a:solidFill>
                  <a:srgbClr val="232B3F"/>
                </a:solidFill>
              </a:defRPr>
            </a:pPr>
            <a:r>
              <a:t>区域规划关键动作</a:t>
            </a:r>
          </a:p>
          <a:p>
            <a:pPr>
              <a:defRPr sz="1200">
                <a:solidFill>
                  <a:srgbClr val="606D85"/>
                </a:solidFill>
              </a:defRPr>
            </a:pPr>
            <a:r>
              <a:t>先选候选区域，再核验模型/工具可用性与配额。</a:t>
            </a:r>
            <a:br/>
            <a:r>
              <a:t>官方文档当前列出 30+ Foundry 项目区域。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709160"/>
            <a:ext cx="8046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06D85"/>
                </a:solidFill>
              </a:defRPr>
            </a:pPr>
            <a:r>
              <a:t>来源：Manage costs / Region support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046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b="1" sz="3400">
                <a:solidFill>
                  <a:srgbClr val="232B3F"/>
                </a:solidFill>
              </a:defRPr>
            </a:pPr>
            <a:r>
              <a:t>9) 端点与 API 策略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606D85"/>
                </a:solidFill>
              </a:defRPr>
            </a:pPr>
            <a:r>
              <a:t>同一 Foundry 资源可支持不同开发路径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280160"/>
            <a:ext cx="3840480" cy="1463040"/>
          </a:xfrm>
          <a:prstGeom prst="roundRect">
            <a:avLst/>
          </a:prstGeom>
          <a:solidFill>
            <a:srgbClr val="EBF3FF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600">
                <a:solidFill>
                  <a:srgbClr val="232B3F"/>
                </a:solidFill>
              </a:defRPr>
            </a:pPr>
            <a:r>
              <a:t>项目端点（推荐）</a:t>
            </a:r>
          </a:p>
          <a:p>
            <a:pPr>
              <a:defRPr sz="1200">
                <a:solidFill>
                  <a:srgbClr val="606D85"/>
                </a:solidFill>
              </a:defRPr>
            </a:pPr>
            <a:r>
              <a:t>https://&lt;resource&gt;.services.ai.azure.com/api/projects/&lt;project&gt;</a:t>
            </a:r>
            <a:br/>
            <a:r>
              <a:t>适合使用 Foundry SDK 与项目级能力。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663440" y="1280160"/>
            <a:ext cx="3931920" cy="1463040"/>
          </a:xfrm>
          <a:prstGeom prst="roundRect">
            <a:avLst/>
          </a:prstGeom>
          <a:solidFill>
            <a:srgbClr val="EBF3FF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600">
                <a:solidFill>
                  <a:srgbClr val="232B3F"/>
                </a:solidFill>
              </a:defRPr>
            </a:pPr>
            <a:r>
              <a:t>OpenAI 兼容端点</a:t>
            </a:r>
          </a:p>
          <a:p>
            <a:pPr>
              <a:defRPr sz="1200">
                <a:solidFill>
                  <a:srgbClr val="606D85"/>
                </a:solidFill>
              </a:defRPr>
            </a:pPr>
            <a:r>
              <a:t>https://&lt;resource&gt;.openai.azure.com/openai/v1</a:t>
            </a:r>
            <a:br/>
            <a:r>
              <a:t>适合已有 OpenAI SDK 生态与兼容性诉求。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3017520"/>
            <a:ext cx="804672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600">
                <a:solidFill>
                  <a:srgbClr val="232B3F"/>
                </a:solidFill>
              </a:defRPr>
            </a:pPr>
            <a:r>
              <a:t>选型原则</a:t>
            </a:r>
          </a:p>
          <a:p>
            <a:pPr>
              <a:defRPr sz="1200">
                <a:solidFill>
                  <a:srgbClr val="606D85"/>
                </a:solidFill>
              </a:defRPr>
            </a:pPr>
            <a:r>
              <a:t>优先按“治理需求 + 现有技术栈 + 迁移成本”决策，避免多端点并行导致复杂度上升。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709160"/>
            <a:ext cx="8046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06D85"/>
                </a:solidFill>
              </a:defRPr>
            </a:pPr>
            <a:r>
              <a:t>来源：SDK Overview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046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b="1" sz="3400">
                <a:solidFill>
                  <a:srgbClr val="232B3F"/>
                </a:solidFill>
              </a:defRPr>
            </a:pPr>
            <a:r>
              <a:t>10) 权限与治理基线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606D85"/>
                </a:solidFill>
              </a:defRPr>
            </a:pPr>
            <a:r>
              <a:t>RBAC 角色分层是生产落地前置条件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2560320" cy="2468880"/>
          </a:xfrm>
          <a:prstGeom prst="roundRect">
            <a:avLst/>
          </a:prstGeom>
          <a:solidFill>
            <a:srgbClr val="FFFFFF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600">
                <a:solidFill>
                  <a:srgbClr val="232B3F"/>
                </a:solidFill>
              </a:defRPr>
            </a:pPr>
            <a:r>
              <a:t>Azure AI User</a:t>
            </a:r>
          </a:p>
          <a:p>
            <a:pPr>
              <a:defRPr sz="1200">
                <a:solidFill>
                  <a:srgbClr val="606D85"/>
                </a:solidFill>
              </a:defRPr>
            </a:pPr>
            <a:r>
              <a:t>面向开发与使用，适合最小权限实践。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91840" y="1371600"/>
            <a:ext cx="2560320" cy="2468880"/>
          </a:xfrm>
          <a:prstGeom prst="roundRect">
            <a:avLst/>
          </a:prstGeom>
          <a:solidFill>
            <a:srgbClr val="FFFFFF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600">
                <a:solidFill>
                  <a:srgbClr val="232B3F"/>
                </a:solidFill>
              </a:defRPr>
            </a:pPr>
            <a:r>
              <a:t>AI Project Manager</a:t>
            </a:r>
          </a:p>
          <a:p>
            <a:pPr>
              <a:defRPr sz="1200">
                <a:solidFill>
                  <a:srgbClr val="606D85"/>
                </a:solidFill>
              </a:defRPr>
            </a:pPr>
            <a:r>
              <a:t>管理 Foundry 项目与协作流程。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35040" y="1371600"/>
            <a:ext cx="2560320" cy="2468880"/>
          </a:xfrm>
          <a:prstGeom prst="roundRect">
            <a:avLst/>
          </a:prstGeom>
          <a:solidFill>
            <a:srgbClr val="FFFFFF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600">
                <a:solidFill>
                  <a:srgbClr val="232B3F"/>
                </a:solidFill>
              </a:defRPr>
            </a:pPr>
            <a:r>
              <a:t>Owner / Contributor</a:t>
            </a:r>
          </a:p>
          <a:p>
            <a:pPr>
              <a:defRPr sz="1200">
                <a:solidFill>
                  <a:srgbClr val="606D85"/>
                </a:solidFill>
              </a:defRPr>
            </a:pPr>
            <a:r>
              <a:t>订阅级资源管理与策略落地。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709160"/>
            <a:ext cx="8046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06D85"/>
                </a:solidFill>
              </a:defRPr>
            </a:pPr>
            <a:r>
              <a:t>来源：SDK Overview / Manage costs / RBAC guidance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046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b="1" sz="3400">
                <a:solidFill>
                  <a:srgbClr val="232B3F"/>
                </a:solidFill>
              </a:defRPr>
            </a:pPr>
            <a:r>
              <a:t>11) 配额与区域扩展策略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606D85"/>
                </a:solidFill>
              </a:defRPr>
            </a:pPr>
            <a:r>
              <a:t>先验证区域可用性，再按配额推进发布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280160"/>
            <a:ext cx="3840480" cy="1188720"/>
          </a:xfrm>
          <a:prstGeom prst="roundRect">
            <a:avLst/>
          </a:prstGeom>
          <a:solidFill>
            <a:srgbClr val="EBF3FF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600">
                <a:solidFill>
                  <a:srgbClr val="232B3F"/>
                </a:solidFill>
              </a:defRPr>
            </a:pPr>
            <a:r>
              <a:t>区域验证步骤</a:t>
            </a:r>
          </a:p>
          <a:p>
            <a:pPr>
              <a:defRPr sz="1200">
                <a:solidFill>
                  <a:srgbClr val="606D85"/>
                </a:solidFill>
              </a:defRPr>
            </a:pPr>
            <a:r>
              <a:t>1) 选候选区域</a:t>
            </a:r>
            <a:br/>
            <a:r>
              <a:t>2) 核验模型/工具</a:t>
            </a:r>
            <a:br/>
            <a:r>
              <a:t>3) 检查配额与容量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663440" y="1280160"/>
            <a:ext cx="3840480" cy="1188720"/>
          </a:xfrm>
          <a:prstGeom prst="roundRect">
            <a:avLst/>
          </a:prstGeom>
          <a:solidFill>
            <a:srgbClr val="EBF3FF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600">
                <a:solidFill>
                  <a:srgbClr val="232B3F"/>
                </a:solidFill>
              </a:defRPr>
            </a:pPr>
            <a:r>
              <a:t>配额入口</a:t>
            </a:r>
          </a:p>
          <a:p>
            <a:pPr>
              <a:defRPr sz="1200">
                <a:solidFill>
                  <a:srgbClr val="606D85"/>
                </a:solidFill>
              </a:defRPr>
            </a:pPr>
            <a:r>
              <a:t>Foundry 门户 Operate &gt; Quota，可查看模型与区域可用情况。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743200"/>
            <a:ext cx="786384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600">
                <a:solidFill>
                  <a:srgbClr val="232B3F"/>
                </a:solidFill>
              </a:defRPr>
            </a:pPr>
            <a:r>
              <a:t>发布建议</a:t>
            </a:r>
          </a:p>
          <a:p>
            <a:pPr>
              <a:defRPr sz="1200">
                <a:solidFill>
                  <a:srgbClr val="606D85"/>
                </a:solidFill>
              </a:defRPr>
            </a:pPr>
            <a:r>
              <a:t>采用“单区域试点 → 双区域容灾 → 多区域复制”路径，同时建立容量阈值告警。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709160"/>
            <a:ext cx="8046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06D85"/>
                </a:solidFill>
              </a:defRPr>
            </a:pPr>
            <a:r>
              <a:t>来源：Region support / Control plane guidance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046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b="1" sz="3400">
                <a:solidFill>
                  <a:srgbClr val="232B3F"/>
                </a:solidFill>
              </a:defRPr>
            </a:pPr>
            <a:r>
              <a:t>12) 主权云与合规场景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606D85"/>
                </a:solidFill>
              </a:defRPr>
            </a:pPr>
            <a:r>
              <a:t>公共云与 Azure Government 的能力差异需要前置评估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3931920" cy="2468880"/>
          </a:xfrm>
          <a:prstGeom prst="roundRect">
            <a:avLst/>
          </a:prstGeom>
          <a:solidFill>
            <a:srgbClr val="FFFFFF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600">
                <a:solidFill>
                  <a:srgbClr val="232B3F"/>
                </a:solidFill>
              </a:defRPr>
            </a:pPr>
            <a:r>
              <a:t>Azure Government</a:t>
            </a:r>
          </a:p>
          <a:p>
            <a:pPr>
              <a:defRPr sz="1200">
                <a:solidFill>
                  <a:srgbClr val="606D85"/>
                </a:solidFill>
              </a:defRPr>
            </a:pPr>
            <a:r>
              <a:t>门户：ai.azure.us</a:t>
            </a:r>
            <a:br/>
            <a:r>
              <a:t>区域：US Gov Arizona / Virginia</a:t>
            </a:r>
            <a:br/>
            <a:r>
              <a:t>适用：政府与合规敏感行业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663440" y="1371600"/>
            <a:ext cx="3931920" cy="2468880"/>
          </a:xfrm>
          <a:prstGeom prst="roundRect">
            <a:avLst/>
          </a:prstGeom>
          <a:solidFill>
            <a:srgbClr val="FFFFFF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600">
                <a:solidFill>
                  <a:srgbClr val="232B3F"/>
                </a:solidFill>
              </a:defRPr>
            </a:pPr>
            <a:r>
              <a:t>关键限制</a:t>
            </a:r>
          </a:p>
          <a:p>
            <a:pPr>
              <a:defRPr sz="1200">
                <a:solidFill>
                  <a:srgbClr val="606D85"/>
                </a:solidFill>
              </a:defRPr>
            </a:pPr>
            <a:r>
              <a:t>部分功能在主权云不可用（如部分 playground、fine-tuning 等），需按官方清单核验。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709160"/>
            <a:ext cx="8046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06D85"/>
                </a:solidFill>
              </a:defRPr>
            </a:pPr>
            <a:r>
              <a:t>来源：Region support（Foundry in sovereign clouds）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046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b="1" sz="3400">
                <a:solidFill>
                  <a:srgbClr val="232B3F"/>
                </a:solidFill>
              </a:defRPr>
            </a:pPr>
            <a:r>
              <a:t>13) 从 Azure OpenAI 到 Foundry 的迁移清单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606D85"/>
                </a:solidFill>
              </a:defRPr>
            </a:pPr>
            <a:r>
              <a:t>在保持业务连续性的前提下升级平台能力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280160"/>
            <a:ext cx="8046720" cy="1005840"/>
          </a:xfrm>
          <a:prstGeom prst="roundRect">
            <a:avLst/>
          </a:prstGeom>
          <a:solidFill>
            <a:srgbClr val="EBF3FF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600">
                <a:solidFill>
                  <a:srgbClr val="232B3F"/>
                </a:solidFill>
              </a:defRPr>
            </a:pPr>
            <a:r>
              <a:t>步骤 1：资源映射</a:t>
            </a:r>
          </a:p>
          <a:p>
            <a:pPr>
              <a:defRPr sz="1200">
                <a:solidFill>
                  <a:srgbClr val="606D85"/>
                </a:solidFill>
              </a:defRPr>
            </a:pPr>
            <a:r>
              <a:t>确认现有模型、端点、密钥与项目结构的映射关系。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468880"/>
            <a:ext cx="8046720" cy="1005840"/>
          </a:xfrm>
          <a:prstGeom prst="roundRect">
            <a:avLst/>
          </a:prstGeom>
          <a:solidFill>
            <a:srgbClr val="EBF3FF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600">
                <a:solidFill>
                  <a:srgbClr val="232B3F"/>
                </a:solidFill>
              </a:defRPr>
            </a:pPr>
            <a:r>
              <a:t>步骤 2：接口改造</a:t>
            </a:r>
          </a:p>
          <a:p>
            <a:pPr>
              <a:defRPr sz="1200">
                <a:solidFill>
                  <a:srgbClr val="606D85"/>
                </a:solidFill>
              </a:defRPr>
            </a:pPr>
            <a:r>
              <a:t>按 Responses API 与新术语（Conversations/Items/Responses）完成 SDK 调整。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3657600"/>
            <a:ext cx="8046720" cy="1005840"/>
          </a:xfrm>
          <a:prstGeom prst="roundRect">
            <a:avLst/>
          </a:prstGeom>
          <a:solidFill>
            <a:srgbClr val="EBF3FF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600">
                <a:solidFill>
                  <a:srgbClr val="232B3F"/>
                </a:solidFill>
              </a:defRPr>
            </a:pPr>
            <a:r>
              <a:t>步骤 3：治理补强</a:t>
            </a:r>
          </a:p>
          <a:p>
            <a:pPr>
              <a:defRPr sz="1200">
                <a:solidFill>
                  <a:srgbClr val="606D85"/>
                </a:solidFill>
              </a:defRPr>
            </a:pPr>
            <a:r>
              <a:t>补齐监控、评估、预算与 RBAC 规则后再切生产流量。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709160"/>
            <a:ext cx="8046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06D85"/>
                </a:solidFill>
              </a:defRPr>
            </a:pPr>
            <a:r>
              <a:t>来源：What is Foundry（Evolution / Upgrade guidance）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61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046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b="1" sz="3400">
                <a:solidFill>
                  <a:srgbClr val="FFFFFF"/>
                </a:solidFill>
              </a:defRPr>
            </a:pPr>
            <a:r>
              <a:t>14) 落地路线图与官方资料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FFFFFF"/>
                </a:solidFill>
              </a:defRPr>
            </a:pPr>
            <a:r>
              <a:t>建议从小场景试点，逐步扩展到生产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8046720" cy="1371600"/>
          </a:xfrm>
          <a:prstGeom prst="roundRect">
            <a:avLst/>
          </a:prstGeom>
          <a:solidFill>
            <a:srgbClr val="E9F1FF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600">
                <a:solidFill>
                  <a:srgbClr val="232B3F"/>
                </a:solidFill>
              </a:defRPr>
            </a:pPr>
            <a:r>
              <a:t>90 天落地建议（示例）</a:t>
            </a:r>
          </a:p>
          <a:p>
            <a:pPr>
              <a:defRPr sz="1200">
                <a:solidFill>
                  <a:srgbClr val="606D85"/>
                </a:solidFill>
              </a:defRPr>
            </a:pPr>
            <a:r>
              <a:t>阶段1：搭建 Foundry 项目与最小可用 Agent</a:t>
            </a:r>
            <a:br/>
            <a:r>
              <a:t>阶段2：接入企业知识与工具，建立评估指标</a:t>
            </a:r>
            <a:br/>
            <a:r>
              <a:t>阶段3：上线监控、预算告警与治理策略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926080"/>
            <a:ext cx="80467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FFFFF"/>
                </a:solidFill>
              </a:defRPr>
            </a:pPr>
            <a:r>
              <a:t>官方文档入口：https://learn.microsoft.com/azure/ai-foundry/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What is Foundry：https://learn.microsoft.com/en-us/azure/ai-foundry/what-is-azure-ai-foundry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SDK 概览：https://learn.microsoft.com/en-us/azure/ai-foundry/how-to/develop/sdk-overview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Workflow：https://learn.microsoft.com/en-us/azure/ai-foundry/agents/concepts/workflow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成本管理：https://learn.microsoft.com/en-us/azure/ai-foundry/concepts/manage-costs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区域支持：https://learn.microsoft.com/en-us/azure/ai-foundry/reference/region-support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